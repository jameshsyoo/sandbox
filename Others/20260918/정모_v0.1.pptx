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9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9"/>
    <p:restoredTop sz="94631"/>
  </p:normalViewPr>
  <p:slideViewPr>
    <p:cSldViewPr snapToGrid="0" snapToObjects="1">
      <p:cViewPr>
        <p:scale>
          <a:sx n="143" d="100"/>
          <a:sy n="143" d="100"/>
        </p:scale>
        <p:origin x="656" y="3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921A4-AD9A-0347-AF06-13B1FAE8E465}" type="datetimeFigureOut">
              <a:rPr kumimoji="1" lang="ko-KR" altLang="en-US" smtClean="0"/>
              <a:t>2026. 9. 12.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CB533-9062-6841-870D-CDFE5B37F10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00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615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F2E5-F05A-5E47-8EA3-D7ED531A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458D-28E9-02C6-2FDE-E4E5EF977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5B9D79-4A31-9846-2618-917F40ED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0C266-0C69-F785-B250-2790D8667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5554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4668" y="3020466"/>
            <a:ext cx="8802662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ko-KR" altLang="en-US" sz="4800" b="1" dirty="0" err="1">
                <a:solidFill>
                  <a:srgbClr val="F0C987"/>
                </a:solidFill>
                <a:latin typeface="Cinzel"/>
              </a:rPr>
              <a:t>위스커버리</a:t>
            </a:r>
            <a:r>
              <a:rPr lang="ko-KR" altLang="en-US" sz="4800" b="1" dirty="0">
                <a:solidFill>
                  <a:srgbClr val="F0C987"/>
                </a:solidFill>
                <a:latin typeface="Cinzel"/>
              </a:rPr>
              <a:t> </a:t>
            </a:r>
            <a:r>
              <a:rPr lang="en-US" altLang="ko-KR" sz="4800" b="1" dirty="0">
                <a:solidFill>
                  <a:srgbClr val="F0C987"/>
                </a:solidFill>
                <a:latin typeface="Cinzel"/>
              </a:rPr>
              <a:t>9</a:t>
            </a:r>
            <a:r>
              <a:rPr lang="ko-KR" altLang="en-US" sz="4800" b="1" dirty="0">
                <a:solidFill>
                  <a:srgbClr val="F0C987"/>
                </a:solidFill>
                <a:latin typeface="Cinzel"/>
              </a:rPr>
              <a:t>월 정모</a:t>
            </a:r>
            <a:endParaRPr sz="4800" b="1" i="0" u="none" dirty="0">
              <a:solidFill>
                <a:srgbClr val="F0C987"/>
              </a:solidFill>
              <a:latin typeface="Cinze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4255" y="3911947"/>
            <a:ext cx="8383488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ko-KR" altLang="en-US" sz="1650" b="0" i="0" u="none" dirty="0">
                <a:solidFill>
                  <a:srgbClr val="A89A88"/>
                </a:solidFill>
                <a:latin typeface="Noto Sans KR Light"/>
              </a:rPr>
              <a:t>위스키의 </a:t>
            </a:r>
            <a:r>
              <a:rPr lang="en-US" altLang="ko-KR" sz="1650" b="0" i="0" u="none" dirty="0">
                <a:solidFill>
                  <a:srgbClr val="A89A88"/>
                </a:solidFill>
                <a:latin typeface="Noto Sans KR Light"/>
              </a:rPr>
              <a:t>54</a:t>
            </a:r>
            <a:r>
              <a:rPr lang="ko-KR" altLang="en-US" sz="1650" b="0" i="0" u="none" dirty="0">
                <a:solidFill>
                  <a:srgbClr val="A89A88"/>
                </a:solidFill>
                <a:latin typeface="Noto Sans KR Light"/>
              </a:rPr>
              <a:t>가지 노트</a:t>
            </a:r>
            <a:endParaRPr sz="1650" b="0" i="0" u="none" dirty="0">
              <a:solidFill>
                <a:srgbClr val="A89A88"/>
              </a:solidFill>
              <a:latin typeface="Noto Sans K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52737"/>
            <a:ext cx="762000" cy="28575"/>
          </a:xfrm>
          <a:prstGeom prst="rect">
            <a:avLst/>
          </a:prstGeom>
          <a:solidFill>
            <a:srgbClr val="E2B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33239" y="3119437"/>
            <a:ext cx="6725371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F0C987"/>
                </a:solidFill>
                <a:latin typeface="Cinzel"/>
              </a:rPr>
              <a:t>AGENDA &amp; SESSION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42284" y="3824287"/>
            <a:ext cx="23072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A89A88"/>
                </a:solidFill>
                <a:latin typeface="Noto Sans KR"/>
              </a:rPr>
              <a:t>오늘의</a:t>
            </a:r>
            <a:r>
              <a:rPr sz="1500" b="0" i="0" u="none" dirty="0">
                <a:solidFill>
                  <a:srgbClr val="A89A88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A89A88"/>
                </a:solidFill>
                <a:latin typeface="Noto Sans KR"/>
              </a:rPr>
              <a:t>정모</a:t>
            </a:r>
            <a:r>
              <a:rPr sz="1500" b="0" i="0" u="none" dirty="0">
                <a:solidFill>
                  <a:srgbClr val="A89A88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A89A88"/>
                </a:solidFill>
                <a:latin typeface="Noto Sans KR"/>
              </a:rPr>
              <a:t>진행</a:t>
            </a:r>
            <a:r>
              <a:rPr sz="1500" b="0" i="0" u="none" dirty="0">
                <a:solidFill>
                  <a:srgbClr val="A89A88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A89A88"/>
                </a:solidFill>
                <a:latin typeface="Noto Sans KR"/>
              </a:rPr>
              <a:t>순서</a:t>
            </a:r>
            <a:r>
              <a:rPr sz="1500" b="0" i="0" u="none" dirty="0">
                <a:solidFill>
                  <a:srgbClr val="A89A88"/>
                </a:solidFill>
                <a:latin typeface="Noto Sans KR"/>
              </a:rPr>
              <a:t> </a:t>
            </a:r>
            <a:r>
              <a:rPr sz="1500" b="0" i="0" u="none" dirty="0" err="1">
                <a:solidFill>
                  <a:srgbClr val="A89A88"/>
                </a:solidFill>
                <a:latin typeface="Noto Sans KR"/>
              </a:rPr>
              <a:t>안내</a:t>
            </a:r>
            <a:endParaRPr sz="1500" b="0" i="0" u="none" dirty="0">
              <a:solidFill>
                <a:srgbClr val="A89A88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00FF-3A31-AE88-0CC0-1926A724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523FB9A-2932-519A-4464-E1DB41564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23699218-4318-035D-899E-55B19DC6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3F21C-5FCF-CAC5-52DC-1B6A7F9E7BA8}"/>
              </a:ext>
            </a:extLst>
          </p:cNvPr>
          <p:cNvSpPr txBox="1"/>
          <p:nvPr/>
        </p:nvSpPr>
        <p:spPr>
          <a:xfrm>
            <a:off x="1087755" y="1691848"/>
            <a:ext cx="63170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0" i="0" u="none" dirty="0">
                <a:solidFill>
                  <a:srgbClr val="F7F3EC"/>
                </a:solidFill>
                <a:latin typeface="Cinzel SemiBold"/>
              </a:rPr>
              <a:t>팀 뽑기 </a:t>
            </a:r>
            <a:r>
              <a:rPr lang="en-US" altLang="ko-KR" sz="2800" b="0" i="0" u="none" dirty="0">
                <a:solidFill>
                  <a:srgbClr val="F7F3EC"/>
                </a:solidFill>
                <a:latin typeface="Cinzel SemiBold"/>
              </a:rPr>
              <a:t>&amp;</a:t>
            </a:r>
            <a:r>
              <a:rPr lang="ko-KR" altLang="en-US" sz="2800" b="0" i="0" u="none" dirty="0">
                <a:solidFill>
                  <a:srgbClr val="F7F3EC"/>
                </a:solidFill>
                <a:latin typeface="Cinzel SemiBold"/>
              </a:rPr>
              <a:t> 팀원과 함께 위스키 맞추기</a:t>
            </a:r>
            <a:endParaRPr sz="28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4C147-2B69-0750-EA7C-ECF10EFF219B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오늘의 퀘스트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1C71A4-3FA3-24F7-9EBB-6346B58B7074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FDA3E4-71BD-C2AF-CC5C-A421A9AE7369}"/>
              </a:ext>
            </a:extLst>
          </p:cNvPr>
          <p:cNvSpPr txBox="1"/>
          <p:nvPr/>
        </p:nvSpPr>
        <p:spPr>
          <a:xfrm>
            <a:off x="1225651" y="2418439"/>
            <a:ext cx="9740698" cy="3630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ko-KR" altLang="en-US" sz="2000" b="0" i="0" u="none" dirty="0">
                <a:solidFill>
                  <a:srgbClr val="CBBFAE"/>
                </a:solidFill>
                <a:latin typeface="Noto Sans KR"/>
              </a:rPr>
              <a:t>총 </a:t>
            </a:r>
            <a:r>
              <a:rPr lang="en-US" altLang="ko-KR" sz="2000" b="0" i="0" u="none" dirty="0">
                <a:solidFill>
                  <a:srgbClr val="CBBFAE"/>
                </a:solidFill>
                <a:latin typeface="Noto Sans KR"/>
              </a:rPr>
              <a:t>4</a:t>
            </a:r>
            <a:r>
              <a:rPr lang="ko-KR" altLang="en-US" sz="2000" b="0" i="0" u="none" dirty="0">
                <a:solidFill>
                  <a:srgbClr val="CBBFAE"/>
                </a:solidFill>
                <a:latin typeface="Noto Sans KR"/>
              </a:rPr>
              <a:t>개의 위스키를 블라인드로 마셔보고 향을 추측하고 위스키 맞추기</a:t>
            </a:r>
            <a:r>
              <a:rPr lang="en-US" altLang="ko-KR" sz="2000" b="0" i="0" u="none" dirty="0">
                <a:solidFill>
                  <a:srgbClr val="CBBFAE"/>
                </a:solidFill>
                <a:latin typeface="Noto Sans KR"/>
              </a:rPr>
              <a:t>!</a:t>
            </a: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1)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각 팀원과 위스키를 음용 해보고 추측한 향을 메모</a:t>
            </a: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   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(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음용 방법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: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니트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드롭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2000" dirty="0" err="1">
                <a:solidFill>
                  <a:srgbClr val="CBBFAE"/>
                </a:solidFill>
                <a:latin typeface="Noto Sans KR"/>
              </a:rPr>
              <a:t>미즈와리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2000" dirty="0" err="1">
                <a:solidFill>
                  <a:srgbClr val="CBBFAE"/>
                </a:solidFill>
                <a:latin typeface="Noto Sans KR"/>
              </a:rPr>
              <a:t>오유와리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2000" dirty="0" err="1">
                <a:solidFill>
                  <a:srgbClr val="CBBFAE"/>
                </a:solidFill>
                <a:latin typeface="Noto Sans KR"/>
              </a:rPr>
              <a:t>온더락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하이볼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2)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해당 위스키에 들어 있는 향 키트들을 맡아보고 다시 위스키를 마시며 비교하기</a:t>
            </a: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3)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위스키와 노트 공개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!</a:t>
            </a: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endParaRPr lang="en-US" altLang="ko-KR" sz="2000" b="0" i="0" u="none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r>
              <a:rPr lang="ko-KR" altLang="en-US" sz="1600" b="0" i="0" u="none" dirty="0">
                <a:solidFill>
                  <a:srgbClr val="CBBFAE"/>
                </a:solidFill>
                <a:latin typeface="Noto Sans KR"/>
              </a:rPr>
              <a:t>벌칙 </a:t>
            </a:r>
            <a:r>
              <a:rPr lang="en-US" altLang="ko-KR" sz="1600" b="0" i="0" u="none" dirty="0">
                <a:solidFill>
                  <a:srgbClr val="CBBFAE"/>
                </a:solidFill>
                <a:latin typeface="Noto Sans KR"/>
              </a:rPr>
              <a:t>:</a:t>
            </a:r>
            <a:r>
              <a:rPr lang="ko-KR" altLang="en-US" sz="1600" b="0" i="0" u="none" dirty="0">
                <a:solidFill>
                  <a:srgbClr val="CBBFAE"/>
                </a:solidFill>
                <a:latin typeface="Noto Sans KR"/>
              </a:rPr>
              <a:t> 가장 못 맞춘 팀은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10,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11,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12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월에 각자 </a:t>
            </a:r>
            <a:r>
              <a:rPr lang="en-US" altLang="ko-KR" sz="1600" b="1" dirty="0">
                <a:solidFill>
                  <a:srgbClr val="CBBFAE"/>
                </a:solidFill>
                <a:latin typeface="Noto Sans KR"/>
              </a:rPr>
              <a:t>“</a:t>
            </a:r>
            <a:r>
              <a:rPr lang="ko-KR" altLang="en-US" sz="1600" b="1" dirty="0">
                <a:solidFill>
                  <a:srgbClr val="CBBFAE"/>
                </a:solidFill>
                <a:latin typeface="Noto Sans KR"/>
              </a:rPr>
              <a:t>혼자</a:t>
            </a:r>
            <a:r>
              <a:rPr lang="en-US" altLang="ko-KR" sz="1600" b="1" dirty="0">
                <a:solidFill>
                  <a:srgbClr val="CBBFAE"/>
                </a:solidFill>
                <a:latin typeface="Noto Sans KR"/>
              </a:rPr>
              <a:t>”</a:t>
            </a:r>
            <a:r>
              <a:rPr lang="ko-KR" altLang="en-US" sz="1600" b="1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위스키바에 가서 다른 팀이 </a:t>
            </a:r>
            <a:endParaRPr lang="en-US" altLang="ko-KR" sz="16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           제안하는 미션을 수행 </a:t>
            </a:r>
            <a:endParaRPr sz="1600" b="1" i="0" u="none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76163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3DB8-4EFF-963D-2B84-859C748E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5B62A87-CC78-82E0-6148-095854CEE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35CF280-119F-7872-8899-86E311EC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D6D31F-F26E-EDBC-D37C-502514C99B70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위스키 향 예시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54B256-8619-8460-FBAA-2D322CE02513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38361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516683"/>
            <a:ext cx="3454449" cy="27485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49" y="2516683"/>
            <a:ext cx="3454449" cy="27485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049" y="2516683"/>
            <a:ext cx="3454449" cy="27485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2831008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4875" y="3688258"/>
            <a:ext cx="11537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7F3EC"/>
                </a:solidFill>
                <a:latin typeface="Cinzel SemiBold"/>
              </a:rPr>
              <a:t>Single Malt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059733"/>
            <a:ext cx="2901999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단일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증류소에서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100%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몰트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(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몰트바리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)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만을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사용하여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제조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.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증류소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고유의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개성과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독창적인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풍미가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BFAE"/>
                </a:solidFill>
                <a:latin typeface="Noto Sans KR"/>
              </a:rPr>
              <a:t>돋보입니다</a:t>
            </a:r>
            <a:r>
              <a:rPr sz="1275" b="0" i="0" u="none" dirty="0">
                <a:solidFill>
                  <a:srgbClr val="CBBFAE"/>
                </a:solidFill>
                <a:latin typeface="Noto Sans K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831008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688258"/>
            <a:ext cx="154675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7F3EC"/>
                </a:solidFill>
                <a:latin typeface="Cinzel SemiBold"/>
              </a:rPr>
              <a:t>Blended Scotch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059733"/>
            <a:ext cx="2901999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BFAE"/>
                </a:solidFill>
                <a:latin typeface="Noto Sans KR"/>
              </a:rPr>
              <a:t>몰트 위스키와 그레인 위스키를 원숙하게 블렌딩하여 부드럽고 균형 잡힌 맛과 뛰어난 대중성을 자랑합니다.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274" y="2831008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688258"/>
            <a:ext cx="194196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7F3EC"/>
                </a:solidFill>
                <a:latin typeface="Cinzel SemiBold"/>
              </a:rPr>
              <a:t>American Bourbon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4059733"/>
            <a:ext cx="2901999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BFAE"/>
                </a:solidFill>
                <a:latin typeface="Noto Sans KR"/>
              </a:rPr>
              <a:t>옥수수 51% 이상 사용, 태운 새 불에 그을린 오크통 숙성. 바닐라, 카라멜의 달콤함과 타격감이 강렬합니다.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458" y="2983408"/>
            <a:ext cx="281582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7658" y="2983408"/>
            <a:ext cx="281582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7857" y="2983408"/>
            <a:ext cx="281582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첫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SCOTCH REGIONS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095375"/>
            <a:ext cx="527685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777281"/>
            <a:ext cx="554069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7F3EC"/>
                </a:solidFill>
                <a:latin typeface="Cinzel SemiBold"/>
              </a:rPr>
              <a:t>지역별 풍미의 다채로움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196381"/>
            <a:ext cx="5276850" cy="550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sz="1275" b="0" i="0" u="none">
                <a:solidFill>
                  <a:srgbClr val="CBBFAE"/>
                </a:solidFill>
                <a:latin typeface="Noto Sans KR"/>
              </a:rPr>
              <a:t>스코틀랜드는 스페이사이드, 하일랜드, 아일라, 캠벨타운 등 지역별로 완전히 다른 스타일의 위스키를 생산합니다.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929508"/>
            <a:ext cx="5276850" cy="825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sz="1275" b="0" i="0" u="none">
                <a:solidFill>
                  <a:srgbClr val="CBBFAE"/>
                </a:solidFill>
                <a:latin typeface="Noto Sans KR"/>
              </a:rPr>
              <a:t>토탄(Peat)의 유무, 바닷바람을 맞으며 숙성되는 오크통 환경, 정류기의 형태에 따라 과일향부터 강렬한 스모키향까지 다채로운 레이어가 완성됩니다.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2411908"/>
          <a:ext cx="10934698" cy="2891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256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C987"/>
                          </a:solidFill>
                          <a:latin typeface="Cinzel"/>
                        </a:rPr>
                        <a:t>제품명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1C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C987"/>
                          </a:solidFill>
                          <a:latin typeface="Cinzel"/>
                        </a:rPr>
                        <a:t>종류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1C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C987"/>
                          </a:solidFill>
                          <a:latin typeface="Cinzel"/>
                        </a:rPr>
                        <a:t>도수 (ABV)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1C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C987"/>
                          </a:solidFill>
                          <a:latin typeface="Cinzel"/>
                        </a:rPr>
                        <a:t>주요 테이스팅 노트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1C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25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BFAE"/>
                          </a:solidFill>
                          <a:latin typeface="Noto Sans KR"/>
                        </a:rPr>
                        <a:t>발베니 12년 더블우드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싱글몰트 (스페이사이드)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40.0%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부드러운 꿀, 바닐라, 은은한 은은한 계피 스파이스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25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BFAE"/>
                          </a:solidFill>
                          <a:latin typeface="Noto Sans KR"/>
                        </a:rPr>
                        <a:t>글렌드로낙 12년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싱글몰트 (셰리 카스크)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43.0%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말린 과일, 다크 초콜릿, 풍부한 셰리 아로마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25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BFAE"/>
                          </a:solidFill>
                          <a:latin typeface="Noto Sans KR"/>
                        </a:rPr>
                        <a:t>아드벡 10년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싱글몰트 (아일라 피트)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46.0%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강렬한 스모키, 해풍의 짭조름함, 레몬 피ล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259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BFAE"/>
                          </a:solidFill>
                          <a:latin typeface="Noto Sans KR"/>
                        </a:rPr>
                        <a:t>우드포드 리저브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버번 위스키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43.2%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BFAE"/>
                          </a:solidFill>
                          <a:latin typeface="Noto Sans KR"/>
                        </a:rPr>
                        <a:t>진한 카라멜, 토스티한 오크, 꿀, 에스프레소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14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28650" y="2995761"/>
            <a:ext cx="228317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8650" y="2416671"/>
            <a:ext cx="2283172" cy="9525"/>
          </a:xfrm>
          <a:prstGeom prst="rect">
            <a:avLst/>
          </a:prstGeom>
          <a:solidFill>
            <a:srgbClr val="3E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11822" y="2995761"/>
            <a:ext cx="2525464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11822" y="2416671"/>
            <a:ext cx="2525464" cy="9525"/>
          </a:xfrm>
          <a:prstGeom prst="rect">
            <a:avLst/>
          </a:prstGeom>
          <a:solidFill>
            <a:srgbClr val="3E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37286" y="2995761"/>
            <a:ext cx="1457920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37286" y="2416671"/>
            <a:ext cx="1457920" cy="9525"/>
          </a:xfrm>
          <a:prstGeom prst="rect">
            <a:avLst/>
          </a:prstGeom>
          <a:solidFill>
            <a:srgbClr val="3E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95207" y="2995761"/>
            <a:ext cx="466814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95207" y="2416671"/>
            <a:ext cx="4668142" cy="9525"/>
          </a:xfrm>
          <a:prstGeom prst="rect">
            <a:avLst/>
          </a:prstGeom>
          <a:solidFill>
            <a:srgbClr val="3E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650" y="3569047"/>
            <a:ext cx="228317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11822" y="3569047"/>
            <a:ext cx="2525464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37286" y="3569047"/>
            <a:ext cx="1457920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95207" y="3569047"/>
            <a:ext cx="466814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8650" y="4142333"/>
            <a:ext cx="228317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11822" y="4142333"/>
            <a:ext cx="2525464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37286" y="4142333"/>
            <a:ext cx="1457920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95207" y="4142333"/>
            <a:ext cx="466814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8650" y="4715619"/>
            <a:ext cx="228317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11822" y="4715619"/>
            <a:ext cx="2525464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37286" y="4715619"/>
            <a:ext cx="1457920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95207" y="4715619"/>
            <a:ext cx="466814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8650" y="5288905"/>
            <a:ext cx="228317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11822" y="5288905"/>
            <a:ext cx="2525464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37286" y="5288905"/>
            <a:ext cx="1457920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95207" y="5288905"/>
            <a:ext cx="4668142" cy="9525"/>
          </a:xfrm>
          <a:prstGeom prst="rect">
            <a:avLst/>
          </a:prstGeom>
          <a:solidFill>
            <a:srgbClr val="2E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650" y="53340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TODAY'S TASTING LINEUP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650" y="1047750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747962"/>
            <a:ext cx="5276850" cy="2219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9175" y="3138487"/>
            <a:ext cx="44958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0" i="0" u="none">
                <a:solidFill>
                  <a:srgbClr val="F0C987"/>
                </a:solidFill>
                <a:latin typeface="Cinzel ExtraBold"/>
              </a:rPr>
              <a:t>4S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75" y="4329112"/>
            <a:ext cx="44958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E2B466"/>
                </a:solidFill>
                <a:latin typeface="Noto Sans KR"/>
              </a:rPr>
              <a:t>Sight, Swirl, Smell, Sip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015853"/>
            <a:ext cx="554069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7F3EC"/>
                </a:solidFill>
                <a:latin typeface="Cinzel SemiBold"/>
              </a:rPr>
              <a:t>올바른 시음의 4단계 법칙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434953"/>
            <a:ext cx="52768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BFAE"/>
                </a:solidFill>
                <a:latin typeface="Noto Sans KR"/>
              </a:rPr>
              <a:t>위스키를 감상할 때는 급하게 삼키지 않고 4S 규칙을 순서대로 따릅니다.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808214"/>
            <a:ext cx="52768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BFAE"/>
                </a:solidFill>
                <a:latin typeface="Noto Sans KR"/>
              </a:rPr>
              <a:t>시각(Sight)으로 색상과 눈물을 확인하고, 잔을 가볍게 굴려(Swirl) 알코올을 연화시킨 뒤, 향(Smell)을 깊이 맡고, 입안(Sip)에서 천천히 굴려 원숙한 아로마를 탐색합니다.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53340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TASTING GOLDEN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1047750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341364"/>
            <a:ext cx="909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7F3EC"/>
                </a:solidFill>
                <a:latin typeface="Noto Sans KR"/>
              </a:rPr>
              <a:t>1. Sight (시각):</a:t>
            </a:r>
            <a:r>
              <a:rPr sz="1350" b="0" i="0" u="none">
                <a:solidFill>
                  <a:srgbClr val="CBBFAE"/>
                </a:solidFill>
                <a:latin typeface="Noto Sans KR"/>
              </a:rPr>
              <a:t> 잔을 45도로 기울여 원액의 색상과 잔 벽을 타고 흘러내리는 레그(Legs)의 점도를 확인합니다. 숙성 연도와 바디감을 가늠해 볼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099494"/>
            <a:ext cx="909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7F3EC"/>
                </a:solidFill>
                <a:latin typeface="Noto Sans KR"/>
              </a:rPr>
              <a:t>2. Swirl &amp; Nosing (향):</a:t>
            </a:r>
            <a:r>
              <a:rPr sz="1350" b="0" i="0" u="none">
                <a:solidFill>
                  <a:srgbClr val="CBBFAE"/>
                </a:solidFill>
                <a:latin typeface="Noto Sans KR"/>
              </a:rPr>
              <a:t> 글렌캐런 잔의 입구에 코를 살짝 대고 입을 조금 벌린 채 숨을 쉬며 향을 맡습니다. 직관적인 과일, 오크, 스모키 향을 분류해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857625"/>
            <a:ext cx="909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7F3EC"/>
                </a:solidFill>
                <a:latin typeface="Noto Sans KR"/>
              </a:rPr>
              <a:t>3. Sip &amp; Palate (시음):</a:t>
            </a:r>
            <a:r>
              <a:rPr sz="1350" b="0" i="0" u="none">
                <a:solidFill>
                  <a:srgbClr val="CBBFAE"/>
                </a:solidFill>
                <a:latin typeface="Noto Sans KR"/>
              </a:rPr>
              <a:t> 아주 작은 한 모금을 머금고 혀 전체로 위스키를 감싸듯 3~5초간 굴려줍니다. 입안에서 피어나는 다양한 팔레트를 느껴봅니다.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615755"/>
            <a:ext cx="909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7F3EC"/>
                </a:solidFill>
                <a:latin typeface="Noto Sans KR"/>
              </a:rPr>
              <a:t>4. Finish (피니시):</a:t>
            </a:r>
            <a:r>
              <a:rPr sz="1350" b="0" i="0" u="none">
                <a:solidFill>
                  <a:srgbClr val="CBBFAE"/>
                </a:solidFill>
                <a:latin typeface="Noto Sans KR"/>
              </a:rPr>
              <a:t> 목으로 넘긴 후 입으로 숨을 내쉬며 가슴과 목구멍에서 여운으로 남는 긴 피니시의 향과 지속 시간을 즐겨봅니다.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350889"/>
            <a:ext cx="16311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09019"/>
            <a:ext cx="16311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67150"/>
            <a:ext cx="16311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625280"/>
            <a:ext cx="16311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650" y="53340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HOW TO TASTE IN DETAIL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650" y="1047750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859583"/>
            <a:ext cx="5276850" cy="19960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9583"/>
            <a:ext cx="5276850" cy="19960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3202483"/>
            <a:ext cx="4820602" cy="304800"/>
          </a:xfrm>
          <a:prstGeom prst="rect">
            <a:avLst/>
          </a:prstGeom>
          <a:noFill/>
        </p:spPr>
        <p:txBody>
          <a:bodyPr wrap="square" lIns="270867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B466"/>
                </a:solidFill>
                <a:latin typeface="Cinzel SemiBold"/>
              </a:rPr>
              <a:t>글렌캐런 글라스 추천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621583"/>
            <a:ext cx="45910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BFAE"/>
                </a:solidFill>
                <a:latin typeface="Noto Sans KR"/>
              </a:rPr>
              <a:t>일반 온더락 잔과 달리 입구가 좁아지는 테이스팅 전용 글라스를 사용하면 복합적인 위스키 아로마 모아주어 향의 디테일을 한층 선명하게 느낄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02483"/>
            <a:ext cx="4820602" cy="304800"/>
          </a:xfrm>
          <a:prstGeom prst="rect">
            <a:avLst/>
          </a:prstGeom>
          <a:noFill/>
        </p:spPr>
        <p:txBody>
          <a:bodyPr wrap="square" lIns="270867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B466"/>
                </a:solidFill>
                <a:latin typeface="Cinzel SemiBold"/>
              </a:rPr>
              <a:t>가수 (Watering)의 마법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21583"/>
            <a:ext cx="45910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BFAE"/>
                </a:solidFill>
                <a:latin typeface="Noto Sans KR"/>
              </a:rPr>
              <a:t>위스키에 상온의 물을 한 두 방울 떨어뜨리면 표면장력이 깨지면서 갇혀있던 풍부한 아로마 분자가 폭발적으로 피어오르는 색다른 경험을 할 수 있습니다.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3240583"/>
            <a:ext cx="175617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240583"/>
            <a:ext cx="175617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650" y="53340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GLASS &amp; WATERING TIPS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650" y="1047750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109787"/>
            <a:ext cx="3454449" cy="3495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49" y="2109787"/>
            <a:ext cx="3454449" cy="3495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049" y="2109787"/>
            <a:ext cx="3454449" cy="3495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675" y="4386262"/>
            <a:ext cx="320711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E2B466"/>
                </a:solidFill>
                <a:latin typeface="Cinzel SemiBold"/>
              </a:rPr>
              <a:t>치즈 &amp; 샤퀴테리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4719637"/>
            <a:ext cx="3054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BFAE"/>
                </a:solidFill>
                <a:latin typeface="Noto Sans KR"/>
              </a:rPr>
              <a:t>하일랜드 및 블렌디드 위스키와 잘 어울리는 클래식 조합. 염도와 지방이 풍미를 높여줍니다.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4386262"/>
            <a:ext cx="320711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E2B466"/>
                </a:solidFill>
                <a:latin typeface="Cinzel SemiBold"/>
              </a:rPr>
              <a:t>다크 초콜릿 &amp; 견과류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4719637"/>
            <a:ext cx="30543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BFAE"/>
                </a:solidFill>
                <a:latin typeface="Noto Sans KR"/>
              </a:rPr>
              <a:t>셰리 카스크 위스키와 환상의 궁합. 쌉싸름한 퐁당 초콜릿이 셰리의 말린 과일향을 증폭시킵니다.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9074" y="4386262"/>
            <a:ext cx="320711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E2B466"/>
                </a:solidFill>
                <a:latin typeface="Cinzel SemiBold"/>
              </a:rPr>
              <a:t>훈제 연어 &amp; 핑거푸드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9074" y="4719637"/>
            <a:ext cx="3054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BFAE"/>
                </a:solidFill>
                <a:latin typeface="Noto Sans KR"/>
              </a:rPr>
              <a:t>아일라 피트 위스키의 스모키함 및 해풍 노트와 완벽하게 어우러지는 하이엔드 페어링입니다.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309812"/>
            <a:ext cx="3054399" cy="1905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309812"/>
            <a:ext cx="3054399" cy="1905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074" y="2309812"/>
            <a:ext cx="3054399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650" y="53340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RECOMMENDED PAIRINGS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650" y="1047750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390650"/>
            <a:ext cx="10934700" cy="4933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46349" y="4904482"/>
            <a:ext cx="8699152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1" u="none">
                <a:solidFill>
                  <a:srgbClr val="CBBFAE"/>
                </a:solidFill>
                <a:latin typeface="Noto Sans KR"/>
              </a:rPr>
              <a:t>※ 모임 사전 설문조사 결과, 달콤하고 다채로운 풍미의 셰리 카스크와 프루티한 스타일이 가장 높은 선호도를 보였습니다.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53340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MEMBER FLAVOR PREFERENCE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" y="1047750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9692" y="3175694"/>
            <a:ext cx="8532465" cy="90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sz="2550" b="0" i="0" u="none">
                <a:solidFill>
                  <a:srgbClr val="F7F3EC"/>
                </a:solidFill>
                <a:latin typeface="Playfair Display"/>
              </a:rPr>
              <a:t>"Too much of anything is bad, but too much good whiskey is barely enough."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7400" y="4320480"/>
            <a:ext cx="13969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E2B466"/>
                </a:solidFill>
                <a:latin typeface="Cinzel"/>
              </a:rPr>
              <a:t>— Mark Twain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5817" y="3413819"/>
            <a:ext cx="350043" cy="981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750" b="0" i="0" u="none">
                <a:solidFill>
                  <a:srgbClr val="4A3C2F"/>
                </a:solidFill>
                <a:latin typeface="Playfair Display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5990" y="4034730"/>
            <a:ext cx="350043" cy="981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750" b="0" i="0" u="none">
                <a:solidFill>
                  <a:srgbClr val="4A3C2F"/>
                </a:solidFill>
                <a:latin typeface="Playfair Display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53340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WHISKEY QUOTE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650" y="1047750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282" y="2442269"/>
            <a:ext cx="11481435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0C987"/>
                </a:solidFill>
                <a:latin typeface="Cinzel"/>
              </a:rPr>
              <a:t>CHEERS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3423344"/>
            <a:ext cx="109347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BFAE"/>
                </a:solidFill>
                <a:latin typeface="Noto Sans KR"/>
              </a:rPr>
              <a:t>오늘 시음하신 위스키 중 가장 인상 깊었던 잔은 무엇이었나요?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4187130"/>
            <a:ext cx="10934700" cy="228600"/>
          </a:xfrm>
          <a:prstGeom prst="rect">
            <a:avLst/>
          </a:prstGeom>
          <a:noFill/>
        </p:spPr>
        <p:txBody>
          <a:bodyPr wrap="square" lIns="219223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E2B466"/>
                </a:solidFill>
                <a:latin typeface="Noto Sans KR"/>
              </a:rPr>
              <a:t>위스키 소모임 정모 진행 세션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588" y="4215705"/>
            <a:ext cx="143023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7088" y="2292846"/>
            <a:ext cx="10677673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57088" y="3077616"/>
            <a:ext cx="10677673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7088" y="3862387"/>
            <a:ext cx="10677673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7088" y="3068091"/>
            <a:ext cx="1067767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7088" y="3068091"/>
            <a:ext cx="1067767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7088" y="3852862"/>
            <a:ext cx="1067767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7088" y="3852862"/>
            <a:ext cx="1067767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7088" y="4637633"/>
            <a:ext cx="1067767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7088" y="4637633"/>
            <a:ext cx="1067767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8" y="244226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52463" y="2435721"/>
            <a:ext cx="9582298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BFAE"/>
                </a:solidFill>
                <a:latin typeface="Noto Sans KR"/>
              </a:rPr>
              <a:t>https://www.albertadistillers.com/sites/default/files/styles/original/public/2025-08/distillers-aging-barrels-alberta.jpg.webp?itok=GTnoxkRU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2463" y="2681436"/>
            <a:ext cx="9582298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BFAE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www.albertadistillers.com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88" y="322704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52463" y="3220491"/>
            <a:ext cx="9582298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BFAE"/>
                </a:solidFill>
                <a:latin typeface="Noto Sans KR"/>
              </a:rPr>
              <a:t>https://kirkmarket.ky/wp-content/uploads/2025/01/PremiumGourmetCharcuterieCheesePlatter.webp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2463" y="3466207"/>
            <a:ext cx="9582298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BFAE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kirkmarket.ky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088" y="401181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52463" y="4005262"/>
            <a:ext cx="9582298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BFAE"/>
                </a:solidFill>
                <a:latin typeface="Noto Sans KR"/>
              </a:rPr>
              <a:t>https://www.snixykitchen.com/wp-content/uploads/2019/02/Dark-Chocolate-Honey-Walnut-Fig-Truffles-1.jpg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2463" y="4250977"/>
            <a:ext cx="9582298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BFAE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www.snixykitchen.com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088" y="4796581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52463" y="4790033"/>
            <a:ext cx="9582298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BFAE"/>
                </a:solidFill>
                <a:latin typeface="Noto Sans KR"/>
              </a:rPr>
              <a:t>https://images.squarespace-cdn.com/content/v1/631c9a1d09678571736db82b/1675491824532-ZDO5UHQGIEYCKUIYHP2K/5E636A4E-221B-4176-8412-721EF64D5123.jpg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2463" y="5035748"/>
            <a:ext cx="9582298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BFAE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www.thebrinybabe.com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533400"/>
            <a:ext cx="1148143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2B466"/>
                </a:solidFill>
                <a:latin typeface="Cinzel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650" y="1047750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1942</TotalTime>
  <Words>770</Words>
  <Application>Microsoft Macintosh PowerPoint</Application>
  <PresentationFormat>와이드스크린</PresentationFormat>
  <Paragraphs>94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맑은 고딕</vt:lpstr>
      <vt:lpstr>Cinzel</vt:lpstr>
      <vt:lpstr>Cinzel ExtraBold</vt:lpstr>
      <vt:lpstr>Cinzel SemiBold</vt:lpstr>
      <vt:lpstr>Noto Sans KR</vt:lpstr>
      <vt:lpstr>Noto Sans KR Light</vt:lpstr>
      <vt:lpstr>Arial</vt:lpstr>
      <vt:lpstr>Calibri</vt:lpstr>
      <vt:lpstr>Playfair Display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Hyeon-seung Yoo</cp:lastModifiedBy>
  <cp:revision>5</cp:revision>
  <dcterms:created xsi:type="dcterms:W3CDTF">2013-01-27T09:14:16Z</dcterms:created>
  <dcterms:modified xsi:type="dcterms:W3CDTF">2026-09-13T13:22:52Z</dcterms:modified>
  <cp:category/>
</cp:coreProperties>
</file>