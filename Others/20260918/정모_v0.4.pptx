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70" r:id="rId4"/>
    <p:sldId id="258" r:id="rId5"/>
    <p:sldId id="272" r:id="rId6"/>
    <p:sldId id="275" r:id="rId7"/>
    <p:sldId id="271" r:id="rId8"/>
    <p:sldId id="274" r:id="rId9"/>
    <p:sldId id="278" r:id="rId10"/>
    <p:sldId id="273" r:id="rId11"/>
    <p:sldId id="276" r:id="rId12"/>
    <p:sldId id="279" r:id="rId13"/>
    <p:sldId id="277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B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/>
    <p:restoredTop sz="94687"/>
  </p:normalViewPr>
  <p:slideViewPr>
    <p:cSldViewPr snapToGrid="0" snapToObjects="1">
      <p:cViewPr>
        <p:scale>
          <a:sx n="154" d="100"/>
          <a:sy n="154" d="100"/>
        </p:scale>
        <p:origin x="1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921A4-AD9A-0347-AF06-13B1FAE8E465}" type="datetimeFigureOut">
              <a:rPr kumimoji="1" lang="ko-KR" altLang="en-US" smtClean="0"/>
              <a:t>2026. 9. 18.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B533-9062-6841-870D-CDFE5B37F1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009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5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F2E5-F05A-5E47-8EA3-D7ED531A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458D-28E9-02C6-2FDE-E4E5EF97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5B9D79-4A31-9846-2618-917F40ED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0C266-0C69-F785-B250-2790D8667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555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0A42-85E8-FFCD-9E0E-1F769FCC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A145E9-AB34-309A-D6FC-9C3EC42FA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ED1A7D-4F5E-3A7C-4BD6-23E98B841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7EC71-33CD-342E-A24C-EF795BE06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4291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6080-7E56-1508-4808-1706FB76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7E61E-8E50-535A-84A1-0EEC668E0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1C0901-C13D-4C29-2D74-1026DE826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3C3C4-7B12-2D19-1555-948D4D74C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884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F583-57D2-BCF7-F3BD-8C1E4475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B411F4-DD09-BC49-C3AD-0315A212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6453AD-2947-CE38-0B33-B73753E89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38CF9-BD61-A8D2-CC3D-CCEC36A7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B533-9062-6841-870D-CDFE5B37F10A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52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4668" y="3020466"/>
            <a:ext cx="8802662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altLang="ko-KR" sz="4800" b="1" dirty="0" err="1">
                <a:solidFill>
                  <a:srgbClr val="F0C987"/>
                </a:solidFill>
                <a:latin typeface="Cinzel"/>
              </a:rPr>
              <a:t>Whiscovery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 CS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 </a:t>
            </a:r>
            <a:r>
              <a:rPr lang="en-US" altLang="ko-KR" sz="4800" b="1" dirty="0">
                <a:solidFill>
                  <a:srgbClr val="F0C987"/>
                </a:solidFill>
                <a:latin typeface="Cinzel"/>
              </a:rPr>
              <a:t>9</a:t>
            </a:r>
            <a:r>
              <a:rPr lang="ko-KR" altLang="en-US" sz="4800" b="1" dirty="0">
                <a:solidFill>
                  <a:srgbClr val="F0C987"/>
                </a:solidFill>
                <a:latin typeface="Cinzel"/>
              </a:rPr>
              <a:t>월 정모</a:t>
            </a:r>
            <a:endParaRPr sz="48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4255" y="3911947"/>
            <a:ext cx="8383488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위스키의 </a:t>
            </a:r>
            <a:r>
              <a:rPr lang="en-US" altLang="ko-KR" sz="1650" b="0" i="0" u="none" dirty="0">
                <a:solidFill>
                  <a:srgbClr val="A89A88"/>
                </a:solidFill>
                <a:latin typeface="Noto Sans KR Light"/>
              </a:rPr>
              <a:t>54</a:t>
            </a:r>
            <a:r>
              <a:rPr lang="ko-KR" altLang="en-US" sz="1650" b="0" i="0" u="none" dirty="0">
                <a:solidFill>
                  <a:srgbClr val="A89A88"/>
                </a:solidFill>
                <a:latin typeface="Noto Sans KR Light"/>
              </a:rPr>
              <a:t>가지 노트</a:t>
            </a:r>
            <a:endParaRPr sz="1650" b="0" i="0" u="none" dirty="0">
              <a:solidFill>
                <a:srgbClr val="A89A88"/>
              </a:solidFill>
              <a:latin typeface="Noto Sans K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00FF-3A31-AE88-0CC0-1926A724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523FB9A-2932-519A-4464-E1DB4156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23699218-4318-035D-899E-55B19DC6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3F21C-5FCF-CAC5-52DC-1B6A7F9E7BA8}"/>
              </a:ext>
            </a:extLst>
          </p:cNvPr>
          <p:cNvSpPr txBox="1"/>
          <p:nvPr/>
        </p:nvSpPr>
        <p:spPr>
          <a:xfrm>
            <a:off x="1087755" y="1691848"/>
            <a:ext cx="63170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팀 뽑기 </a:t>
            </a:r>
            <a:r>
              <a:rPr lang="en-US" altLang="ko-KR" sz="2800" b="0" i="0" u="none" dirty="0">
                <a:solidFill>
                  <a:srgbClr val="F7F3EC"/>
                </a:solidFill>
                <a:latin typeface="Cinzel SemiBold"/>
              </a:rPr>
              <a:t>&amp;</a:t>
            </a:r>
            <a:r>
              <a:rPr lang="ko-KR" altLang="en-US" sz="2800" b="0" i="0" u="none" dirty="0">
                <a:solidFill>
                  <a:srgbClr val="F7F3EC"/>
                </a:solidFill>
                <a:latin typeface="Cinzel SemiBold"/>
              </a:rPr>
              <a:t> 팀원과 함께 위스키 맞추기</a:t>
            </a:r>
            <a:endParaRPr sz="28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4C147-2B69-0750-EA7C-ECF10EFF219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오늘의 퀘스트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C71A4-3FA3-24F7-9EBB-6346B58B707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FDA3E4-71BD-C2AF-CC5C-A421A9AE7369}"/>
              </a:ext>
            </a:extLst>
          </p:cNvPr>
          <p:cNvSpPr txBox="1"/>
          <p:nvPr/>
        </p:nvSpPr>
        <p:spPr>
          <a:xfrm>
            <a:off x="1220552" y="2575207"/>
            <a:ext cx="9740698" cy="316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총 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4</a:t>
            </a:r>
            <a:r>
              <a:rPr lang="ko-KR" altLang="en-US" sz="2000" b="0" i="0" u="none" dirty="0">
                <a:solidFill>
                  <a:srgbClr val="CBBFAE"/>
                </a:solidFill>
                <a:latin typeface="Noto Sans KR"/>
              </a:rPr>
              <a:t>개의 위스키를 블라인드로 마셔보고 향을 추측하고 위스키 맞추기</a:t>
            </a:r>
            <a:r>
              <a:rPr lang="en-US" altLang="ko-KR" sz="2000" b="0" i="0" u="none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1)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각 팀원과 위스키를 음용 해보고 추측한 향을 메모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  2)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해당 위스키에 들어 있는 향 키트들을 맡아보고 다시 위스키를 마시며 비교하기</a:t>
            </a: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 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3)</a:t>
            </a:r>
            <a:r>
              <a:rPr lang="ko-KR" altLang="en-US" sz="2000" dirty="0">
                <a:solidFill>
                  <a:srgbClr val="CBBFAE"/>
                </a:solidFill>
                <a:latin typeface="Noto Sans KR"/>
              </a:rPr>
              <a:t> 위스키와 노트 공개</a:t>
            </a:r>
            <a:r>
              <a:rPr lang="en-US" altLang="ko-KR" sz="2000" dirty="0">
                <a:solidFill>
                  <a:srgbClr val="CBBFAE"/>
                </a:solidFill>
                <a:latin typeface="Noto Sans KR"/>
              </a:rPr>
              <a:t>!</a:t>
            </a: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endParaRPr lang="en-US" altLang="ko-KR" sz="2000" b="0" i="0" u="none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벌칙 </a:t>
            </a:r>
            <a:r>
              <a:rPr lang="en-US" altLang="ko-KR" sz="1600" b="0" i="0" u="none" dirty="0">
                <a:solidFill>
                  <a:srgbClr val="CBBFAE"/>
                </a:solidFill>
                <a:latin typeface="Noto Sans KR"/>
              </a:rPr>
              <a:t>:</a:t>
            </a:r>
            <a:r>
              <a:rPr lang="ko-KR" altLang="en-US" sz="1600" b="0" i="0" u="none" dirty="0">
                <a:solidFill>
                  <a:srgbClr val="CBBFAE"/>
                </a:solidFill>
                <a:latin typeface="Noto Sans KR"/>
              </a:rPr>
              <a:t> 가장 못 맞춘 팀은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10,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11,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600" dirty="0">
                <a:solidFill>
                  <a:srgbClr val="CBBFAE"/>
                </a:solidFill>
                <a:latin typeface="Noto Sans KR"/>
              </a:rPr>
              <a:t>12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월에 각자 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“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혼자</a:t>
            </a:r>
            <a:r>
              <a:rPr lang="en-US" altLang="ko-KR" sz="1600" b="1" dirty="0">
                <a:solidFill>
                  <a:srgbClr val="CBBFAE"/>
                </a:solidFill>
                <a:latin typeface="Noto Sans KR"/>
              </a:rPr>
              <a:t>”</a:t>
            </a:r>
            <a:r>
              <a:rPr lang="ko-KR" altLang="en-US" sz="1600" b="1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위스키바에 가서 다른 팀이 </a:t>
            </a:r>
            <a:endParaRPr lang="en-US" altLang="ko-KR" sz="1600" dirty="0">
              <a:solidFill>
                <a:srgbClr val="CBBFAE"/>
              </a:solidFill>
              <a:latin typeface="Noto Sans KR"/>
            </a:endParaRPr>
          </a:p>
          <a:p>
            <a:pPr algn="l">
              <a:lnSpc>
                <a:spcPts val="2039"/>
              </a:lnSpc>
            </a:pPr>
            <a:r>
              <a:rPr lang="ko-KR" altLang="en-US" sz="1600" dirty="0">
                <a:solidFill>
                  <a:srgbClr val="CBBFAE"/>
                </a:solidFill>
                <a:latin typeface="Noto Sans KR"/>
              </a:rPr>
              <a:t>            제안하는 미션을 수행 </a:t>
            </a:r>
            <a:endParaRPr sz="1600" b="1" i="0" u="none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76163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3DB8-4EFF-963D-2B84-859C748E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5B62A87-CC78-82E0-6148-095854CEE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35CF280-119F-7872-8899-86E311EC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D6D31F-F26E-EDBC-D37C-502514C99B70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첫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4B256-8619-8460-FBAA-2D322CE0251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ACE71-20CB-5DC5-7EC4-3441A2BA15E7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E6C4E-F88A-1407-620F-4AF8D7CFB416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건포도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코코넛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꿀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고무 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자두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스파이시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무화과 오크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43836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첫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에드라두어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791438F-7163-6F58-B441-55C01EA8C089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1691C188-F26A-DF5D-62F4-267D8848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E78B9F-7257-85C2-5883-6CC96C2FB2C2}"/>
                </a:ext>
              </a:extLst>
            </p:cNvPr>
            <p:cNvSpPr txBox="1"/>
            <p:nvPr/>
          </p:nvSpPr>
          <p:spPr>
            <a:xfrm>
              <a:off x="948064" y="2028841"/>
              <a:ext cx="4380394" cy="35722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1825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년에 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여덟 명의 지역농부들이 설립한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에드라두어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증류소는 스코틀랜드에서 가장 작고 매력적인 싱글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몰트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독립병입 회사인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시그나토리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소속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이지만 과거에는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페르노리카가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소유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골든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드램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(Golden dram)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이라는 별명으로 불림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이유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: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금매장지로 유명한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피틸리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번의 물을 사용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,</a:t>
              </a: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             국제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스피릿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어워드에서 금메달 수상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	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  금빛이 떠오르는 꿀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,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시트러스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,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바닐라 풍미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셰리 </a:t>
              </a:r>
              <a:r>
                <a:rPr lang="ko-KR" altLang="en-US" sz="1400" b="0" i="0" u="none" dirty="0" err="1">
                  <a:solidFill>
                    <a:srgbClr val="CBBFAE"/>
                  </a:solidFill>
                  <a:latin typeface="Noto Sans KR"/>
                </a:rPr>
                <a:t>캐스크를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주로 사용하며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,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색소를 첨가하지 않았는데도 간장색에 가까운 색으로 유명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663112E-3AA8-CE31-7EE2-35896DFAC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341" y="1667247"/>
            <a:ext cx="6291060" cy="42973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E47E-4568-9322-F735-EBB1DE375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482F40D-08A9-A26E-C196-9C887D0A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6C3BDC4-349C-7951-563C-27A39055F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5DB384-D171-1B04-311C-19B18429D76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두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D29F7F-9F9B-2DB5-B152-4AE538C7849D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396D6-694B-8B11-045C-9F6A7CFED9A3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679D0-5D1F-0BB9-D26C-C0F25222D601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멜론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구운 고기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오이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자몽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해조류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타임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허브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스모키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673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3205-C5B1-97D3-EDB1-4F9488D9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9049351-7BAC-40D9-B814-69CF190B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33E879-6A30-EEF8-DB89-1C86BF5CCA29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두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애버펄디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12Y,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40%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473E3-34C2-207A-B9BD-669AE1C01AC4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3E94582-C859-6E19-5542-1B6D7447985F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16" name="Picture 2" descr="image.png">
              <a:extLst>
                <a:ext uri="{FF2B5EF4-FFF2-40B4-BE49-F238E27FC236}">
                  <a16:creationId xmlns:a16="http://schemas.microsoft.com/office/drawing/2014/main" id="{949C7C13-2840-B8BB-CB80-537AE6599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18C2D-2ADF-F50C-25A4-3A38695B146B}"/>
                </a:ext>
              </a:extLst>
            </p:cNvPr>
            <p:cNvSpPr txBox="1"/>
            <p:nvPr/>
          </p:nvSpPr>
          <p:spPr>
            <a:xfrm>
              <a:off x="948064" y="2028841"/>
              <a:ext cx="4120887" cy="28028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에버펠디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증류소는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1896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듀어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형제 설립되었으며 스코틀랜드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하이랜드의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증류소로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블랜디드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듀어스의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원액을 공급하기 위해서 설립</a:t>
              </a: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1925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디스틸러스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컴퍼티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 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19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30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디아지오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전신인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SMD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       </a:t>
              </a:r>
              <a:r>
                <a:rPr lang="en-US" altLang="ko-KR" sz="1400" b="0" i="0" u="none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b="0" i="0" u="none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1998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바카디로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싱글몰트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위스키로서 판매된 역사는 길지 않아 제품이 많은 편은 아님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.</a:t>
              </a:r>
              <a:endParaRPr lang="en-US" altLang="ko-KR" sz="1400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20" name="그림 19" descr="에버펠디(Aberfeldy), 듀어스와 역사를 함께한 하이랜드 증류소">
            <a:extLst>
              <a:ext uri="{FF2B5EF4-FFF2-40B4-BE49-F238E27FC236}">
                <a16:creationId xmlns:a16="http://schemas.microsoft.com/office/drawing/2014/main" id="{F7521B54-882F-732E-176A-B4C342EC1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883" y="2099866"/>
            <a:ext cx="6045200" cy="317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2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53E9-F506-902F-5E93-5C48B30B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70490E6-EB87-52B1-DD6B-BA2B33F9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A111C23-902D-776F-B8CF-6237EAEC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460867-067B-A330-5BD2-02A0E1899B1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세</a:t>
            </a:r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1DC576-C2C0-E7CF-201D-85F6079C5233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A7233-BCAD-08E4-A91F-2D181F8F426C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B5840-DED8-16BE-26FC-5D2ED864916B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파인애플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커피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바닐라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가죽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생강 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피트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견과류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오렌지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5940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2E63-83D1-6805-2BEC-521649BB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464D4C2-8696-0E05-A267-2D5962AE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04A8D6-A2F4-7C26-990D-456FF59B0848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세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하쿠슈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DR(NAS),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43%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40869-0B1F-7D98-79F2-8587A02A80CE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E2551BE6-854A-46EB-637A-D1953BED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67247"/>
            <a:ext cx="4905375" cy="4297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1CBC01-2079-93B8-79A2-6F75E209FAB5}"/>
              </a:ext>
            </a:extLst>
          </p:cNvPr>
          <p:cNvSpPr txBox="1"/>
          <p:nvPr/>
        </p:nvSpPr>
        <p:spPr>
          <a:xfrm>
            <a:off x="948064" y="2028841"/>
            <a:ext cx="4457654" cy="3221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039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하쿠슈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증류소는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1973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년 설립되었으며 그 해는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증류소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창립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50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주년이 되는 해였으며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산토리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2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대 사장 사지 케이조의 지휘 아래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야마자키에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이은 두번째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몰트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위스키 증류소로 설립</a:t>
            </a:r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 algn="l">
              <a:lnSpc>
                <a:spcPts val="2039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증류소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설립 당시 원주의 다양성을 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높이는게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목적이었으며 최종 위치는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미나미알프시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*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카이코마가타케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산기슭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,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해발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708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미터 이며 평균 기온이 </a:t>
            </a:r>
            <a:r>
              <a:rPr lang="ko-KR" altLang="en-US" sz="1400" dirty="0" err="1">
                <a:solidFill>
                  <a:srgbClr val="CBBFAE"/>
                </a:solidFill>
                <a:latin typeface="Noto Sans KR"/>
              </a:rPr>
              <a:t>야마자키보다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 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5</a:t>
            </a: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도 낮음</a:t>
            </a:r>
            <a:endParaRPr lang="en-US" altLang="ko-KR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CBBFAE"/>
              </a:solidFill>
              <a:latin typeface="Noto Sans K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CBBFAE"/>
                </a:solidFill>
                <a:latin typeface="Noto Sans KR"/>
              </a:rPr>
              <a:t>일설에는 최적의 물을 찾는 과정에서 파견된 직원이 물맛을 보고 감동 했다는 얘기도 있음</a:t>
            </a:r>
            <a:r>
              <a:rPr lang="en-US" altLang="ko-KR" sz="1400" dirty="0">
                <a:solidFill>
                  <a:srgbClr val="CBBFAE"/>
                </a:solidFill>
                <a:latin typeface="Noto Sans KR"/>
              </a:rPr>
              <a:t>.</a:t>
            </a:r>
          </a:p>
          <a:p>
            <a:endParaRPr lang="en-US" sz="1400" dirty="0">
              <a:solidFill>
                <a:srgbClr val="CBBFAE"/>
              </a:solidFill>
              <a:latin typeface="Noto Sans KR"/>
            </a:endParaRPr>
          </a:p>
          <a:p>
            <a:endParaRPr lang="en-US" sz="1400" dirty="0">
              <a:solidFill>
                <a:srgbClr val="CBBFAE"/>
              </a:solidFill>
              <a:latin typeface="Noto Sans KR"/>
            </a:endParaRPr>
          </a:p>
        </p:txBody>
      </p:sp>
      <p:pic>
        <p:nvPicPr>
          <p:cNvPr id="15" name="그림 14" descr="산토리 하쿠슈 증류소 가이드 – 이야기, 투어 &amp; 교통">
            <a:extLst>
              <a:ext uri="{FF2B5EF4-FFF2-40B4-BE49-F238E27FC236}">
                <a16:creationId xmlns:a16="http://schemas.microsoft.com/office/drawing/2014/main" id="{DC6BFB10-B64B-F8F8-4498-0A1E0171A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132" y="1765859"/>
            <a:ext cx="6180887" cy="412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D446-42DF-D0B5-A37D-8630803E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F844D2B-580A-20C7-72FE-9384E3D39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15EBCE-A2AF-E1CE-DCDF-85434D047108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세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하쿠슈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DR(NAS),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43%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BBDC2-CC19-9640-D84B-9F9A3D1E322B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 descr="산토리 하쿠슈 증류소·산토리 천연수 미나미알프스 하쿠슈 공장, 야마나시현호쿠토시 상세, 교통편 및 지도| Japan Travel by  NAVITIME - 가이드, 교통 검색 및 여행 일정 플래너">
            <a:extLst>
              <a:ext uri="{FF2B5EF4-FFF2-40B4-BE49-F238E27FC236}">
                <a16:creationId xmlns:a16="http://schemas.microsoft.com/office/drawing/2014/main" id="{D2CF08EA-450F-E8B9-370A-F11A0FFDB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759759"/>
            <a:ext cx="5571653" cy="3751580"/>
          </a:xfrm>
          <a:prstGeom prst="rect">
            <a:avLst/>
          </a:prstGeom>
        </p:spPr>
      </p:pic>
      <p:pic>
        <p:nvPicPr>
          <p:cNvPr id="5" name="그림 4" descr="r/whiskey - 하쿠슈 증류소 방문 - 관광객으로서의 생각">
            <a:extLst>
              <a:ext uri="{FF2B5EF4-FFF2-40B4-BE49-F238E27FC236}">
                <a16:creationId xmlns:a16="http://schemas.microsoft.com/office/drawing/2014/main" id="{2F7696EC-2027-1EFD-EF67-DD58E7EBC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246" y="1759758"/>
            <a:ext cx="5002105" cy="375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AE49-4F61-33EF-82B2-2906A8E2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4213B47-D292-68E3-57E6-89A68B09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916" y="-40341"/>
            <a:ext cx="12345634" cy="6938682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95FDD46-32E2-CAB1-A1C4-08F07854F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8" y="1419654"/>
            <a:ext cx="10566219" cy="49049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6FAA46-65BE-612E-1809-2A671CD07576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>
                <a:solidFill>
                  <a:srgbClr val="E2B466"/>
                </a:solidFill>
                <a:latin typeface="Cinzel"/>
              </a:rPr>
              <a:t>네 번째 위스키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E57F22-32A7-DFDC-0501-CC3E451A7450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69FA8-B4C5-969A-85D1-EFC3B215151D}"/>
              </a:ext>
            </a:extLst>
          </p:cNvPr>
          <p:cNvSpPr txBox="1"/>
          <p:nvPr/>
        </p:nvSpPr>
        <p:spPr>
          <a:xfrm>
            <a:off x="1087755" y="1691848"/>
            <a:ext cx="631709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4000" b="0" i="0" u="none" dirty="0">
                <a:solidFill>
                  <a:srgbClr val="F7F3EC"/>
                </a:solidFill>
                <a:latin typeface="Cinzel SemiBold"/>
              </a:rPr>
              <a:t>향 보기</a:t>
            </a:r>
            <a:endParaRPr sz="4000" b="0" i="0" u="none" dirty="0">
              <a:solidFill>
                <a:srgbClr val="F7F3EC"/>
              </a:solidFill>
              <a:latin typeface="Cinzel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47B7-D939-8DAE-FA47-B09C9D6367B7}"/>
              </a:ext>
            </a:extLst>
          </p:cNvPr>
          <p:cNvSpPr txBox="1"/>
          <p:nvPr/>
        </p:nvSpPr>
        <p:spPr>
          <a:xfrm>
            <a:off x="1220552" y="2579595"/>
            <a:ext cx="9740698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레몬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후추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초콜릿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체리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배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  <a:p>
            <a:pPr algn="ctr">
              <a:lnSpc>
                <a:spcPct val="200000"/>
              </a:lnSpc>
            </a:pP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아몬드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>
                <a:solidFill>
                  <a:srgbClr val="CBBFAE"/>
                </a:solidFill>
                <a:latin typeface="Noto Sans KR"/>
              </a:rPr>
              <a:t>계피</a:t>
            </a:r>
            <a:r>
              <a:rPr lang="en-US" altLang="ko-KR" sz="4000" dirty="0">
                <a:solidFill>
                  <a:srgbClr val="CBBFAE"/>
                </a:solidFill>
                <a:latin typeface="Noto Sans KR"/>
              </a:rPr>
              <a:t>	</a:t>
            </a:r>
            <a:r>
              <a:rPr lang="ko-KR" altLang="en-US" sz="4000" dirty="0" err="1">
                <a:solidFill>
                  <a:srgbClr val="CBBFAE"/>
                </a:solidFill>
                <a:latin typeface="Noto Sans KR"/>
              </a:rPr>
              <a:t>헤이즐넛</a:t>
            </a:r>
            <a:endParaRPr lang="en-US" altLang="ko-KR" sz="4000" dirty="0">
              <a:solidFill>
                <a:srgbClr val="CBBFAE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4635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2978-49F3-413F-B678-09AE9DD1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9597F3B-5EE0-EEC3-CAB4-99379618D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3F4C98-207B-567C-75F8-15D9F1E67D4E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네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아드벡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46%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8C0D6-BDBE-BFDA-AD53-FB21925CCE1A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F23C37-CAC1-D83B-4462-9641D6AA6997}"/>
              </a:ext>
            </a:extLst>
          </p:cNvPr>
          <p:cNvGrpSpPr/>
          <p:nvPr/>
        </p:nvGrpSpPr>
        <p:grpSpPr>
          <a:xfrm>
            <a:off x="628650" y="1667247"/>
            <a:ext cx="4905375" cy="4297351"/>
            <a:chOff x="628650" y="1667247"/>
            <a:chExt cx="4905375" cy="4297351"/>
          </a:xfrm>
        </p:grpSpPr>
        <p:pic>
          <p:nvPicPr>
            <p:cNvPr id="10" name="Picture 2" descr="image.png">
              <a:extLst>
                <a:ext uri="{FF2B5EF4-FFF2-40B4-BE49-F238E27FC236}">
                  <a16:creationId xmlns:a16="http://schemas.microsoft.com/office/drawing/2014/main" id="{2A9862A0-4240-D15E-7FB0-33A205555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667247"/>
              <a:ext cx="4905375" cy="42973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6BF0FB-B888-5EE9-27C1-16451D933C3E}"/>
                </a:ext>
              </a:extLst>
            </p:cNvPr>
            <p:cNvSpPr txBox="1"/>
            <p:nvPr/>
          </p:nvSpPr>
          <p:spPr>
            <a:xfrm>
              <a:off x="948064" y="2028841"/>
              <a:ext cx="4120887" cy="38817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스코틀랜드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아일라섬에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위치한 위스키 증류소로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‘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아드벡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은 게일어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“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An</a:t>
              </a:r>
              <a:r>
                <a:rPr lang="ko-KR" altLang="ko-KR" sz="1400" dirty="0">
                  <a:solidFill>
                    <a:srgbClr val="CBBFAE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Àird</a:t>
              </a:r>
              <a:r>
                <a:rPr lang="ko-KR" altLang="ko-KR" sz="1400" dirty="0">
                  <a:solidFill>
                    <a:srgbClr val="CBBFAE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CBBFAE"/>
                  </a:solidFill>
                </a:rPr>
                <a:t>Bheag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”</a:t>
              </a:r>
              <a:r>
                <a:rPr lang="ko-KR" altLang="en-US" sz="1400" dirty="0">
                  <a:solidFill>
                    <a:srgbClr val="CBBFAE"/>
                  </a:solidFill>
                </a:rPr>
                <a:t>에서 따온 이름으로 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‘</a:t>
              </a:r>
              <a:r>
                <a:rPr lang="ko-KR" altLang="en-US" sz="1400" dirty="0">
                  <a:solidFill>
                    <a:srgbClr val="CBBFAE"/>
                  </a:solidFill>
                </a:rPr>
                <a:t>작은 곶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</a:rPr>
                <a:t> 혹은 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‘</a:t>
              </a:r>
              <a:r>
                <a:rPr lang="ko-KR" altLang="en-US" sz="1400" dirty="0">
                  <a:solidFill>
                    <a:srgbClr val="CBBFAE"/>
                  </a:solidFill>
                </a:rPr>
                <a:t>낮은 언덕배기</a:t>
              </a:r>
              <a:r>
                <a:rPr lang="en-US" altLang="ko-KR" sz="1400" dirty="0">
                  <a:solidFill>
                    <a:srgbClr val="CBBFAE"/>
                  </a:solidFill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</a:rPr>
                <a:t>라는 의미를 가지고 있음</a:t>
              </a:r>
              <a:endParaRPr lang="en-US" altLang="ko-KR" sz="1400" dirty="0">
                <a:solidFill>
                  <a:srgbClr val="CBBFAE"/>
                </a:solidFill>
              </a:endParaRPr>
            </a:p>
            <a:p>
              <a:endParaRPr lang="en-US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아일라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삼대장인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아드벡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라프로익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라가불린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중 하나로 이들이 위치한 지역명을 따서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‘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킬달튼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트리오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’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라고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불림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marL="285750" indent="-285750" algn="l">
                <a:lnSpc>
                  <a:spcPts val="2039"/>
                </a:lnSpc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1798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밀주 제조로 시작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1815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존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맥도걸이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상업화를 위해 면허 취득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1902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Alexander MacDougall 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주식회사 설립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1981,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1991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증류소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폐쇄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1997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글렌모렌지로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인수됨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  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-&gt;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2005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년 </a:t>
              </a:r>
              <a:r>
                <a:rPr lang="en-US" altLang="ko-KR" sz="1400" dirty="0">
                  <a:solidFill>
                    <a:srgbClr val="CBBFAE"/>
                  </a:solidFill>
                  <a:latin typeface="Noto Sans KR"/>
                </a:rPr>
                <a:t>LVMH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에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</a:t>
              </a:r>
              <a:r>
                <a:rPr lang="ko-KR" altLang="en-US" sz="1400" dirty="0" err="1">
                  <a:solidFill>
                    <a:srgbClr val="CBBFAE"/>
                  </a:solidFill>
                  <a:latin typeface="Noto Sans KR"/>
                </a:rPr>
                <a:t>글렌모렌지와</a:t>
              </a: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함께 인수됨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  <a:p>
              <a:pPr algn="l">
                <a:lnSpc>
                  <a:spcPts val="2039"/>
                </a:lnSpc>
              </a:pPr>
              <a:r>
                <a:rPr lang="ko-KR" altLang="en-US" sz="1400" dirty="0">
                  <a:solidFill>
                    <a:srgbClr val="CBBFAE"/>
                  </a:solidFill>
                  <a:latin typeface="Noto Sans KR"/>
                </a:rPr>
                <a:t>    </a:t>
              </a:r>
              <a:endParaRPr lang="en-US" altLang="ko-KR" sz="1400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pic>
        <p:nvPicPr>
          <p:cNvPr id="15" name="그림 14" descr="INTO THE WILD | 에스콰이어 코리아">
            <a:extLst>
              <a:ext uri="{FF2B5EF4-FFF2-40B4-BE49-F238E27FC236}">
                <a16:creationId xmlns:a16="http://schemas.microsoft.com/office/drawing/2014/main" id="{424D7756-35DA-EC0C-E4E7-587A2A89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849" y="1667247"/>
            <a:ext cx="5881501" cy="42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93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2A70-7E32-4092-5A60-3E3BFF9B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CD36BC9-DE87-735C-2669-EC0E56D0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82E78FC-2007-570C-AE9D-B51C7CDAEDF2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네 번째 위스키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 – </a:t>
            </a:r>
            <a:r>
              <a:rPr lang="ko-KR" altLang="en-US" sz="2700" b="1" dirty="0" err="1">
                <a:solidFill>
                  <a:srgbClr val="E2B466"/>
                </a:solidFill>
                <a:latin typeface="Cinzel"/>
              </a:rPr>
              <a:t>아드벡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10Y,</a:t>
            </a:r>
            <a:r>
              <a:rPr lang="ko-KR" altLang="en-US" sz="2700" b="1" dirty="0">
                <a:solidFill>
                  <a:srgbClr val="E2B466"/>
                </a:solidFill>
                <a:latin typeface="Cinzel"/>
              </a:rPr>
              <a:t> </a:t>
            </a:r>
            <a:r>
              <a:rPr lang="en-US" altLang="ko-KR" sz="2700" b="1" dirty="0">
                <a:solidFill>
                  <a:srgbClr val="E2B466"/>
                </a:solidFill>
                <a:latin typeface="Cinzel"/>
              </a:rPr>
              <a:t>46%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508B70-6ABD-D4BC-9DA5-AEAFDC6A2C35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 descr="아일라(Islay)섬 위치. 영국지도.">
            <a:extLst>
              <a:ext uri="{FF2B5EF4-FFF2-40B4-BE49-F238E27FC236}">
                <a16:creationId xmlns:a16="http://schemas.microsoft.com/office/drawing/2014/main" id="{CB23E441-F365-3610-C43B-BAB4FCB3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924" y="1484319"/>
            <a:ext cx="3046866" cy="4132627"/>
          </a:xfrm>
          <a:prstGeom prst="rect">
            <a:avLst/>
          </a:prstGeom>
        </p:spPr>
      </p:pic>
      <p:pic>
        <p:nvPicPr>
          <p:cNvPr id="4" name="그림 3" descr="아일라 삼대장 증류소 위치. 라프로익, 라가불린, 아드벡 증류소 위치.">
            <a:extLst>
              <a:ext uri="{FF2B5EF4-FFF2-40B4-BE49-F238E27FC236}">
                <a16:creationId xmlns:a16="http://schemas.microsoft.com/office/drawing/2014/main" id="{272F3A14-4EE4-FDEE-D914-C543A8156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736" y="1482297"/>
            <a:ext cx="5806691" cy="413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31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4683-FDC9-677B-01D4-E3451355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409D24A-03A7-EC0E-7DB1-C25CB908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D4265B9E-B5E6-DD54-59DC-DB65D31B0DCB}"/>
              </a:ext>
            </a:extLst>
          </p:cNvPr>
          <p:cNvGrpSpPr/>
          <p:nvPr/>
        </p:nvGrpSpPr>
        <p:grpSpPr>
          <a:xfrm>
            <a:off x="628650" y="3167180"/>
            <a:ext cx="4905375" cy="1108792"/>
            <a:chOff x="628502" y="3441332"/>
            <a:chExt cx="3454449" cy="110879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CC4B4E5B-6F16-D4F4-D919-0D48DA78D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3454449" cy="110879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A0943B-EAEF-6CF8-00C3-CE3364E6040D}"/>
                </a:ext>
              </a:extLst>
            </p:cNvPr>
            <p:cNvSpPr txBox="1"/>
            <p:nvPr/>
          </p:nvSpPr>
          <p:spPr>
            <a:xfrm>
              <a:off x="904875" y="3688258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 err="1">
                  <a:solidFill>
                    <a:srgbClr val="F7F3EC"/>
                  </a:solidFill>
                  <a:latin typeface="Cinzel SemiBold"/>
                </a:rPr>
                <a:t>미즈와리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1FEDAA-EF9D-A6A7-DBD9-9ED1FE3A8024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차가운 물과 얼음을 타서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CBA2140-CC83-5C17-9488-A15D579D20A5}"/>
              </a:ext>
            </a:extLst>
          </p:cNvPr>
          <p:cNvGrpSpPr/>
          <p:nvPr/>
        </p:nvGrpSpPr>
        <p:grpSpPr>
          <a:xfrm>
            <a:off x="6509495" y="4774321"/>
            <a:ext cx="4905375" cy="1108792"/>
            <a:chOff x="8109049" y="3429000"/>
            <a:chExt cx="3454449" cy="1108792"/>
          </a:xfrm>
        </p:grpSpPr>
        <p:pic>
          <p:nvPicPr>
            <p:cNvPr id="5" name="Picture 4" descr="image.png">
              <a:extLst>
                <a:ext uri="{FF2B5EF4-FFF2-40B4-BE49-F238E27FC236}">
                  <a16:creationId xmlns:a16="http://schemas.microsoft.com/office/drawing/2014/main" id="{FF9A7432-BFEA-FA5D-6B34-F0ADE648F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F912DA-CAF4-2585-B932-B89BB029E96C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하이볼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11577A-DF63-3D2D-1B3E-4E170C97C131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위스키와 탄산 음료를 섞어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843220-BD0E-756C-6C5F-96C02087BA1B}"/>
              </a:ext>
            </a:extLst>
          </p:cNvPr>
          <p:cNvSpPr txBox="1"/>
          <p:nvPr/>
        </p:nvSpPr>
        <p:spPr>
          <a:xfrm>
            <a:off x="628650" y="533400"/>
            <a:ext cx="1148143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00" b="1" i="0" u="none" dirty="0" err="1">
                <a:solidFill>
                  <a:srgbClr val="E2B466"/>
                </a:solidFill>
                <a:latin typeface="Cinzel"/>
              </a:rPr>
              <a:t>음용법</a:t>
            </a:r>
            <a:endParaRPr sz="2700" b="1" i="0" u="none" dirty="0">
              <a:solidFill>
                <a:srgbClr val="E2B466"/>
              </a:solidFill>
              <a:latin typeface="Cinze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AA65C1-9B77-0460-53AC-EA597D3200C8}"/>
              </a:ext>
            </a:extLst>
          </p:cNvPr>
          <p:cNvSpPr/>
          <p:nvPr/>
        </p:nvSpPr>
        <p:spPr>
          <a:xfrm>
            <a:off x="628650" y="1114425"/>
            <a:ext cx="10934700" cy="9525"/>
          </a:xfrm>
          <a:prstGeom prst="rect">
            <a:avLst/>
          </a:prstGeom>
          <a:solidFill>
            <a:srgbClr val="3A3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4FEFD4-9DE7-C4E4-434B-890F10AE89D6}"/>
              </a:ext>
            </a:extLst>
          </p:cNvPr>
          <p:cNvGrpSpPr/>
          <p:nvPr/>
        </p:nvGrpSpPr>
        <p:grpSpPr>
          <a:xfrm>
            <a:off x="6509497" y="1499097"/>
            <a:ext cx="4905375" cy="1108792"/>
            <a:chOff x="4368849" y="3429000"/>
            <a:chExt cx="3454449" cy="1108792"/>
          </a:xfrm>
        </p:grpSpPr>
        <p:pic>
          <p:nvPicPr>
            <p:cNvPr id="4" name="Picture 3" descr="image.png">
              <a:extLst>
                <a:ext uri="{FF2B5EF4-FFF2-40B4-BE49-F238E27FC236}">
                  <a16:creationId xmlns:a16="http://schemas.microsoft.com/office/drawing/2014/main" id="{4FB0329E-78CA-9992-D1C4-0B3E51599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7F1208-15D5-9AD3-96BE-A6E1F96D428D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위스키에 </a:t>
              </a:r>
              <a:r>
                <a:rPr lang="ko-KR" altLang="en-US" sz="1275" dirty="0" err="1">
                  <a:solidFill>
                    <a:srgbClr val="CBBFAE"/>
                  </a:solidFill>
                  <a:latin typeface="Noto Sans KR"/>
                </a:rPr>
                <a:t>스포이드로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 물 한 두 방울을 넣어 희석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E579E6-B00A-2D18-49C2-74810780C908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>
                  <a:solidFill>
                    <a:srgbClr val="F7F3EC"/>
                  </a:solidFill>
                  <a:latin typeface="Cinzel SemiBold"/>
                </a:rPr>
                <a:t>드롭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A5D8115-24B8-67ED-B702-F802275C77E8}"/>
              </a:ext>
            </a:extLst>
          </p:cNvPr>
          <p:cNvGrpSpPr/>
          <p:nvPr/>
        </p:nvGrpSpPr>
        <p:grpSpPr>
          <a:xfrm>
            <a:off x="628650" y="1499097"/>
            <a:ext cx="5565962" cy="1108792"/>
            <a:chOff x="628502" y="3441332"/>
            <a:chExt cx="4590311" cy="1108792"/>
          </a:xfrm>
        </p:grpSpPr>
        <p:pic>
          <p:nvPicPr>
            <p:cNvPr id="26" name="Picture 2" descr="image.png">
              <a:extLst>
                <a:ext uri="{FF2B5EF4-FFF2-40B4-BE49-F238E27FC236}">
                  <a16:creationId xmlns:a16="http://schemas.microsoft.com/office/drawing/2014/main" id="{3C4276F0-F125-677D-6969-6CDAC22A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502" y="3441332"/>
              <a:ext cx="4033281" cy="110879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CE6328-A279-F7CF-28FA-9189AF08A446}"/>
                </a:ext>
              </a:extLst>
            </p:cNvPr>
            <p:cNvSpPr txBox="1"/>
            <p:nvPr/>
          </p:nvSpPr>
          <p:spPr>
            <a:xfrm>
              <a:off x="904874" y="3688258"/>
              <a:ext cx="4313939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>
                  <a:solidFill>
                    <a:srgbClr val="F7F3EC"/>
                  </a:solidFill>
                  <a:latin typeface="Cinzel SemiBold"/>
                </a:rPr>
                <a:t>니트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2D61CD-B007-5A49-7225-7F31F78CF1C7}"/>
                </a:ext>
              </a:extLst>
            </p:cNvPr>
            <p:cNvSpPr txBox="1"/>
            <p:nvPr/>
          </p:nvSpPr>
          <p:spPr>
            <a:xfrm>
              <a:off x="904875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위스키를 그대로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7F8E57C-7F79-8519-3EEE-A67BDDA7DD95}"/>
              </a:ext>
            </a:extLst>
          </p:cNvPr>
          <p:cNvGrpSpPr/>
          <p:nvPr/>
        </p:nvGrpSpPr>
        <p:grpSpPr>
          <a:xfrm>
            <a:off x="6509495" y="3136709"/>
            <a:ext cx="4905375" cy="1108792"/>
            <a:chOff x="4368849" y="3429000"/>
            <a:chExt cx="3454449" cy="1108792"/>
          </a:xfrm>
        </p:grpSpPr>
        <p:pic>
          <p:nvPicPr>
            <p:cNvPr id="9" name="Picture 3" descr="image.png">
              <a:extLst>
                <a:ext uri="{FF2B5EF4-FFF2-40B4-BE49-F238E27FC236}">
                  <a16:creationId xmlns:a16="http://schemas.microsoft.com/office/drawing/2014/main" id="{E2048B67-2568-C590-52B4-650B30B31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8849" y="3429000"/>
              <a:ext cx="3454449" cy="110879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8F08B4-1BE0-0EC8-C10E-592BCE60E28F}"/>
                </a:ext>
              </a:extLst>
            </p:cNvPr>
            <p:cNvSpPr txBox="1"/>
            <p:nvPr/>
          </p:nvSpPr>
          <p:spPr>
            <a:xfrm>
              <a:off x="46450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따뜻한 물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(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오유</a:t>
              </a:r>
              <a:r>
                <a:rPr lang="en-US" altLang="ko-KR" sz="1275" b="0" i="0" u="none" dirty="0">
                  <a:solidFill>
                    <a:srgbClr val="CBBFAE"/>
                  </a:solidFill>
                  <a:latin typeface="Noto Sans KR"/>
                </a:rPr>
                <a:t>)</a:t>
              </a:r>
              <a:r>
                <a:rPr lang="ko-KR" altLang="en-US" sz="1275" b="0" i="0" u="none" dirty="0" err="1">
                  <a:solidFill>
                    <a:srgbClr val="CBBFAE"/>
                  </a:solidFill>
                  <a:latin typeface="Noto Sans KR"/>
                </a:rPr>
                <a:t>를</a:t>
              </a: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 타서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A77F7-FEC4-3E62-DFFD-A539BFCDD4E7}"/>
                </a:ext>
              </a:extLst>
            </p:cNvPr>
            <p:cNvSpPr txBox="1"/>
            <p:nvPr/>
          </p:nvSpPr>
          <p:spPr>
            <a:xfrm>
              <a:off x="4645074" y="3666205"/>
              <a:ext cx="1153737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dirty="0" err="1">
                  <a:solidFill>
                    <a:srgbClr val="F7F3EC"/>
                  </a:solidFill>
                  <a:latin typeface="Cinzel SemiBold"/>
                </a:rPr>
                <a:t>오유와리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431D5D-AEB8-28D0-F0D3-E40E1530ECE3}"/>
              </a:ext>
            </a:extLst>
          </p:cNvPr>
          <p:cNvGrpSpPr/>
          <p:nvPr/>
        </p:nvGrpSpPr>
        <p:grpSpPr>
          <a:xfrm>
            <a:off x="613813" y="4834979"/>
            <a:ext cx="4905375" cy="1108792"/>
            <a:chOff x="8109049" y="3429000"/>
            <a:chExt cx="3454449" cy="1108792"/>
          </a:xfrm>
        </p:grpSpPr>
        <p:pic>
          <p:nvPicPr>
            <p:cNvPr id="16" name="Picture 4" descr="image.png">
              <a:extLst>
                <a:ext uri="{FF2B5EF4-FFF2-40B4-BE49-F238E27FC236}">
                  <a16:creationId xmlns:a16="http://schemas.microsoft.com/office/drawing/2014/main" id="{051B7788-5EBF-A25A-89AF-D8CF64F27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9049" y="3429000"/>
              <a:ext cx="3454449" cy="110879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AC8B01-7800-9C68-7FEE-8BA60E0FB5ED}"/>
                </a:ext>
              </a:extLst>
            </p:cNvPr>
            <p:cNvSpPr txBox="1"/>
            <p:nvPr/>
          </p:nvSpPr>
          <p:spPr>
            <a:xfrm>
              <a:off x="8385274" y="3688258"/>
              <a:ext cx="194196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1800" b="0" i="0" u="none" dirty="0" err="1">
                  <a:solidFill>
                    <a:srgbClr val="F7F3EC"/>
                  </a:solidFill>
                  <a:latin typeface="Cinzel SemiBold"/>
                </a:rPr>
                <a:t>온더락</a:t>
              </a:r>
              <a:endParaRPr sz="1800" b="0" i="0" u="none" dirty="0">
                <a:solidFill>
                  <a:srgbClr val="F7F3EC"/>
                </a:solidFill>
                <a:latin typeface="Cinzel SemiBold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0171FC-5318-85B9-AEF9-5EDCE5349F76}"/>
                </a:ext>
              </a:extLst>
            </p:cNvPr>
            <p:cNvSpPr txBox="1"/>
            <p:nvPr/>
          </p:nvSpPr>
          <p:spPr>
            <a:xfrm>
              <a:off x="8385274" y="4059733"/>
              <a:ext cx="2901999" cy="2339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lang="ko-KR" altLang="en-US" sz="1275" b="0" i="0" u="none" dirty="0">
                  <a:solidFill>
                    <a:srgbClr val="CBBFAE"/>
                  </a:solidFill>
                  <a:latin typeface="Noto Sans KR"/>
                </a:rPr>
                <a:t>얼음을 넣고 그 위에 술을 </a:t>
              </a:r>
              <a:r>
                <a:rPr lang="ko-KR" altLang="en-US" sz="1275" dirty="0">
                  <a:solidFill>
                    <a:srgbClr val="CBBFAE"/>
                  </a:solidFill>
                  <a:latin typeface="Noto Sans KR"/>
                </a:rPr>
                <a:t>부어 마시는 방식</a:t>
              </a:r>
              <a:endParaRPr sz="1275" b="0" i="0" u="none" dirty="0">
                <a:solidFill>
                  <a:srgbClr val="CBBFAE"/>
                </a:solidFill>
                <a:latin typeface="Noto Sans K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95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282" y="2442269"/>
            <a:ext cx="1148143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F0C987"/>
                </a:solidFill>
                <a:latin typeface="Cinzel"/>
              </a:rPr>
              <a:t>Finish</a:t>
            </a:r>
            <a:endParaRPr sz="5400" b="1" i="0" u="none" dirty="0">
              <a:solidFill>
                <a:srgbClr val="F0C987"/>
              </a:solidFill>
              <a:latin typeface="Cinze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" y="3423344"/>
            <a:ext cx="10934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CBBFAE"/>
                </a:solidFill>
                <a:latin typeface="Noto Sans KR"/>
              </a:rPr>
              <a:t>Now, let’s dive into some whiskey!</a:t>
            </a:r>
            <a:endParaRPr sz="1650" b="0" i="0" u="none" dirty="0">
              <a:solidFill>
                <a:srgbClr val="CBBFAE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4187130"/>
            <a:ext cx="10934700" cy="207749"/>
          </a:xfrm>
          <a:prstGeom prst="rect">
            <a:avLst/>
          </a:prstGeom>
          <a:noFill/>
        </p:spPr>
        <p:txBody>
          <a:bodyPr wrap="square" lIns="219223" tIns="0" rIns="0" bIns="0" anchor="t">
            <a:spAutoFit/>
          </a:bodyPr>
          <a:lstStyle/>
          <a:p>
            <a:pPr algn="ctr"/>
            <a:r>
              <a:rPr lang="ko-KR" altLang="en-US" sz="1350" dirty="0" err="1">
                <a:solidFill>
                  <a:srgbClr val="E2B466"/>
                </a:solidFill>
                <a:latin typeface="Noto Sans KR"/>
              </a:rPr>
              <a:t>위스커버리</a:t>
            </a:r>
            <a:r>
              <a:rPr lang="en-US" altLang="ko-KR" sz="1350" dirty="0">
                <a:solidFill>
                  <a:srgbClr val="E2B466"/>
                </a:solidFill>
                <a:latin typeface="Noto Sans KR"/>
              </a:rPr>
              <a:t>CS 9</a:t>
            </a:r>
            <a:r>
              <a:rPr lang="ko-KR" altLang="en-US" sz="1350" dirty="0">
                <a:solidFill>
                  <a:srgbClr val="E2B466"/>
                </a:solidFill>
                <a:latin typeface="Noto Sans KR"/>
              </a:rPr>
              <a:t>월 정모</a:t>
            </a:r>
            <a:endParaRPr sz="1350" b="0" i="0" u="none" dirty="0">
              <a:solidFill>
                <a:srgbClr val="E2B466"/>
              </a:solidFill>
              <a:latin typeface="Noto Sans K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98" y="4215705"/>
            <a:ext cx="143023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2247</TotalTime>
  <Words>576</Words>
  <Application>Microsoft Macintosh PowerPoint</Application>
  <PresentationFormat>와이드스크린</PresentationFormat>
  <Paragraphs>90</Paragraphs>
  <Slides>14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맑은 고딕</vt:lpstr>
      <vt:lpstr>Cinzel</vt:lpstr>
      <vt:lpstr>Cinzel SemiBold</vt:lpstr>
      <vt:lpstr>Noto Sans KR</vt:lpstr>
      <vt:lpstr>Noto Sans KR Light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Hyeon-seung Yoo</cp:lastModifiedBy>
  <cp:revision>23</cp:revision>
  <dcterms:created xsi:type="dcterms:W3CDTF">2013-01-27T09:14:16Z</dcterms:created>
  <dcterms:modified xsi:type="dcterms:W3CDTF">2026-09-18T04:27:00Z</dcterms:modified>
  <cp:category/>
</cp:coreProperties>
</file>